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iksh3nQ64vOin/b4rGw4MrVUThm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" name="Google Shape;4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9418320" y="-1554480"/>
            <a:ext cx="5120640" cy="5120640"/>
          </a:xfrm>
          <a:prstGeom prst="ellipse">
            <a:avLst/>
          </a:prstGeom>
          <a:solidFill>
            <a:srgbClr val="141C46"/>
          </a:solidFill>
          <a:ln cap="flat" cmpd="sng" w="12700">
            <a:solidFill>
              <a:srgbClr val="141C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822960" y="1554480"/>
            <a:ext cx="8686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71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2A71B"/>
                </a:solidFill>
                <a:latin typeface="Calibri"/>
                <a:ea typeface="Calibri"/>
                <a:cs typeface="Calibri"/>
                <a:sym typeface="Calibri"/>
              </a:rPr>
              <a:t>12 Y 13 DE AGOSTO · 90 MINUTOS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822960" y="2011680"/>
            <a:ext cx="859536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mbria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Revisar, completar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mbria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y dibujar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822960" y="3931920"/>
            <a:ext cx="8595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Primero ponemos al día la carpeta. Después, el proyecto se dibuja en papel.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822960" y="4754880"/>
            <a:ext cx="6035040" cy="914400"/>
          </a:xfrm>
          <a:prstGeom prst="roundRect">
            <a:avLst>
              <a:gd fmla="val 10000" name="adj"/>
            </a:avLst>
          </a:prstGeom>
          <a:solidFill>
            <a:srgbClr val="141C46"/>
          </a:solidFill>
          <a:ln cap="flat" cmpd="sng" w="12700">
            <a:solidFill>
              <a:srgbClr val="3A46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1051560" y="4754880"/>
            <a:ext cx="5577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Hoy paso por cada equipo con el checklist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"/>
          <p:cNvSpPr/>
          <p:nvPr/>
        </p:nvSpPr>
        <p:spPr>
          <a:xfrm>
            <a:off x="548640" y="347472"/>
            <a:ext cx="87782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100"/>
              <a:buFont typeface="Cambria"/>
              <a:buNone/>
            </a:pPr>
            <a:r>
              <a:rPr b="1" i="0" lang="en-US" sz="31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Los 90 minutos de hoy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Dos bloques. El segundo es el más largo y es con lápiz y papel.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548640" y="1965960"/>
            <a:ext cx="3520440" cy="2926080"/>
          </a:xfrm>
          <a:prstGeom prst="roundRect">
            <a:avLst>
              <a:gd fmla="val 3750" name="adj"/>
            </a:avLst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548640" y="2194560"/>
            <a:ext cx="3520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A71B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F2A71B"/>
                </a:solidFill>
                <a:latin typeface="Cambria"/>
                <a:ea typeface="Cambria"/>
                <a:cs typeface="Cambria"/>
                <a:sym typeface="Cambria"/>
              </a:rPr>
              <a:t>30 min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548640" y="2788920"/>
            <a:ext cx="3520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Revisar y completar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731520" y="3337560"/>
            <a:ext cx="31546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Abren la carpeta, revisan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los 7 puntos y arreglan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lo que falte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4315968" y="1965960"/>
            <a:ext cx="3520440" cy="2926080"/>
          </a:xfrm>
          <a:prstGeom prst="roundRect">
            <a:avLst>
              <a:gd fmla="val 3750" name="adj"/>
            </a:avLst>
          </a:prstGeom>
          <a:solidFill>
            <a:srgbClr val="F2A71B"/>
          </a:solidFill>
          <a:ln cap="flat" cmpd="sng" w="12700">
            <a:solidFill>
              <a:srgbClr val="F2A7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4315968" y="2194560"/>
            <a:ext cx="3520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50 min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4315968" y="2788920"/>
            <a:ext cx="3520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Dibujar el proyecto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4498848" y="3337560"/>
            <a:ext cx="31546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2C00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3A2C00"/>
                </a:solidFill>
                <a:latin typeface="Calibri"/>
                <a:ea typeface="Calibri"/>
                <a:cs typeface="Calibri"/>
                <a:sym typeface="Calibri"/>
              </a:rPr>
              <a:t>Storyboard, boceto del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2C00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3A2C00"/>
                </a:solidFill>
                <a:latin typeface="Calibri"/>
                <a:ea typeface="Calibri"/>
                <a:cs typeface="Calibri"/>
                <a:sym typeface="Calibri"/>
              </a:rPr>
              <a:t>prototipo o wireframe,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2C00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3A2C00"/>
                </a:solidFill>
                <a:latin typeface="Calibri"/>
                <a:ea typeface="Calibri"/>
                <a:cs typeface="Calibri"/>
                <a:sym typeface="Calibri"/>
              </a:rPr>
              <a:t>según su proyecto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8083296" y="1965960"/>
            <a:ext cx="3520440" cy="2926080"/>
          </a:xfrm>
          <a:prstGeom prst="roundRect">
            <a:avLst>
              <a:gd fmla="val 3750" name="adj"/>
            </a:avLst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8083296" y="2194560"/>
            <a:ext cx="3520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A71B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F2A71B"/>
                </a:solidFill>
                <a:latin typeface="Cambria"/>
                <a:ea typeface="Cambria"/>
                <a:cs typeface="Cambria"/>
                <a:sym typeface="Cambria"/>
              </a:rPr>
              <a:t>10 min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8083296" y="2788920"/>
            <a:ext cx="3520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Cerrar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8266176" y="3337560"/>
            <a:ext cx="31546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Foto de los dibujos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y los bloqueos anotados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548640" y="521208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Lo que no alcance del primer bloque se termina en casa. El dibujo se hace hoy, en clase.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"/>
          <p:cNvSpPr/>
          <p:nvPr/>
        </p:nvSpPr>
        <p:spPr>
          <a:xfrm>
            <a:off x="9555480" y="384048"/>
            <a:ext cx="2057400" cy="475488"/>
          </a:xfrm>
          <a:prstGeom prst="roundRect">
            <a:avLst>
              <a:gd fmla="val 19231" name="adj"/>
            </a:avLst>
          </a:prstGeom>
          <a:solidFill>
            <a:srgbClr val="F2A71B"/>
          </a:solidFill>
          <a:ln cap="flat" cmpd="sng" w="12700">
            <a:solidFill>
              <a:srgbClr val="F2A7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3"/>
          <p:cNvSpPr/>
          <p:nvPr/>
        </p:nvSpPr>
        <p:spPr>
          <a:xfrm>
            <a:off x="9555480" y="384048"/>
            <a:ext cx="20574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BLOQUE 1 · 30 min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548640" y="347472"/>
            <a:ext cx="87782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100"/>
              <a:buFont typeface="Cambria"/>
              <a:buNone/>
            </a:pPr>
            <a:r>
              <a:rPr b="1" i="0" lang="en-US" sz="31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Revisa tu carpeta y completa lo que falte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Estos siete puntos son los que voy a mirar equipo por equipo.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548640" y="1783080"/>
            <a:ext cx="11064240" cy="512064"/>
          </a:xfrm>
          <a:prstGeom prst="roundRect">
            <a:avLst>
              <a:gd fmla="val 12500" name="adj"/>
            </a:avLst>
          </a:prstGeom>
          <a:solidFill>
            <a:srgbClr val="E9EFFC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3"/>
          <p:cNvSpPr/>
          <p:nvPr/>
        </p:nvSpPr>
        <p:spPr>
          <a:xfrm>
            <a:off x="777240" y="1883664"/>
            <a:ext cx="310896" cy="310896"/>
          </a:xfrm>
          <a:prstGeom prst="ellipse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"/>
          <p:cNvSpPr/>
          <p:nvPr/>
        </p:nvSpPr>
        <p:spPr>
          <a:xfrm>
            <a:off x="777240" y="1883664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1280160" y="1783080"/>
            <a:ext cx="749808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Cinco antecedentes verificados, dos en inglés, con sus PDF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8869680" y="1783080"/>
            <a:ext cx="25603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1E2761"/>
                </a:solidFill>
                <a:latin typeface="Courier New"/>
                <a:ea typeface="Courier New"/>
                <a:cs typeface="Courier New"/>
                <a:sym typeface="Courier New"/>
              </a:rPr>
              <a:t>01_Antecedentes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548640" y="2386584"/>
            <a:ext cx="11064240" cy="512064"/>
          </a:xfrm>
          <a:prstGeom prst="roundRect">
            <a:avLst>
              <a:gd fmla="val 12500" name="adj"/>
            </a:avLst>
          </a:prstGeom>
          <a:solidFill>
            <a:srgbClr val="F4F7FD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"/>
          <p:cNvSpPr/>
          <p:nvPr/>
        </p:nvSpPr>
        <p:spPr>
          <a:xfrm>
            <a:off x="777240" y="2487168"/>
            <a:ext cx="310896" cy="310896"/>
          </a:xfrm>
          <a:prstGeom prst="ellipse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"/>
          <p:cNvSpPr/>
          <p:nvPr/>
        </p:nvSpPr>
        <p:spPr>
          <a:xfrm>
            <a:off x="777240" y="2487168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1280160" y="2386584"/>
            <a:ext cx="749808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Hoja Búsquedas con la herramienta y el prompt que usaron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8869680" y="2386584"/>
            <a:ext cx="25603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1E2761"/>
                </a:solidFill>
                <a:latin typeface="Courier New"/>
                <a:ea typeface="Courier New"/>
                <a:cs typeface="Courier New"/>
                <a:sym typeface="Courier New"/>
              </a:rPr>
              <a:t>01_Antecedentes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548640" y="2990088"/>
            <a:ext cx="11064240" cy="512064"/>
          </a:xfrm>
          <a:prstGeom prst="roundRect">
            <a:avLst>
              <a:gd fmla="val 12500" name="adj"/>
            </a:avLst>
          </a:prstGeom>
          <a:solidFill>
            <a:srgbClr val="E9EFFC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777240" y="3090672"/>
            <a:ext cx="310896" cy="310896"/>
          </a:xfrm>
          <a:prstGeom prst="ellipse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777240" y="3090672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1280160" y="2990088"/>
            <a:ext cx="749808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Párrafo de antecedentes, con el vacío identificado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8869680" y="2990088"/>
            <a:ext cx="25603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1E2761"/>
                </a:solidFill>
                <a:latin typeface="Courier New"/>
                <a:ea typeface="Courier New"/>
                <a:cs typeface="Courier New"/>
                <a:sym typeface="Courier New"/>
              </a:rPr>
              <a:t>00_Propuesta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548640" y="3593592"/>
            <a:ext cx="11064240" cy="512064"/>
          </a:xfrm>
          <a:prstGeom prst="roundRect">
            <a:avLst>
              <a:gd fmla="val 12500" name="adj"/>
            </a:avLst>
          </a:prstGeom>
          <a:solidFill>
            <a:srgbClr val="F4F7FD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777240" y="3694176"/>
            <a:ext cx="310896" cy="310896"/>
          </a:xfrm>
          <a:prstGeom prst="ellipse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777240" y="3694176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1280160" y="3593592"/>
            <a:ext cx="749808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Referencias en APA 7, en orden alfabético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8869680" y="3593592"/>
            <a:ext cx="25603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1E2761"/>
                </a:solidFill>
                <a:latin typeface="Courier New"/>
                <a:ea typeface="Courier New"/>
                <a:cs typeface="Courier New"/>
                <a:sym typeface="Courier New"/>
              </a:rPr>
              <a:t>00_Propuesta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548640" y="4197096"/>
            <a:ext cx="11064240" cy="512064"/>
          </a:xfrm>
          <a:prstGeom prst="roundRect">
            <a:avLst>
              <a:gd fmla="val 12500" name="adj"/>
            </a:avLst>
          </a:prstGeom>
          <a:solidFill>
            <a:srgbClr val="E9EFFC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3"/>
          <p:cNvSpPr/>
          <p:nvPr/>
        </p:nvSpPr>
        <p:spPr>
          <a:xfrm>
            <a:off x="777240" y="4297680"/>
            <a:ext cx="310896" cy="310896"/>
          </a:xfrm>
          <a:prstGeom prst="ellipse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777240" y="4297680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1280160" y="4197096"/>
            <a:ext cx="749808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Foto de los bocetos de hoy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8869680" y="4197096"/>
            <a:ext cx="25603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1E2761"/>
                </a:solidFill>
                <a:latin typeface="Courier New"/>
                <a:ea typeface="Courier New"/>
                <a:cs typeface="Courier New"/>
                <a:sym typeface="Courier New"/>
              </a:rPr>
              <a:t>04_Desarrollo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548640" y="4800600"/>
            <a:ext cx="11064240" cy="512064"/>
          </a:xfrm>
          <a:prstGeom prst="roundRect">
            <a:avLst>
              <a:gd fmla="val 12500" name="adj"/>
            </a:avLst>
          </a:prstGeom>
          <a:solidFill>
            <a:srgbClr val="F4F7FD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"/>
          <p:cNvSpPr/>
          <p:nvPr/>
        </p:nvSpPr>
        <p:spPr>
          <a:xfrm>
            <a:off x="777240" y="4901184"/>
            <a:ext cx="310896" cy="310896"/>
          </a:xfrm>
          <a:prstGeom prst="ellipse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"/>
          <p:cNvSpPr/>
          <p:nvPr/>
        </p:nvSpPr>
        <p:spPr>
          <a:xfrm>
            <a:off x="777240" y="4901184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1280160" y="4800600"/>
            <a:ext cx="749808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Bocetos_EquipoXX.docx diligenciado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8869680" y="4800600"/>
            <a:ext cx="25603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1E2761"/>
                </a:solidFill>
                <a:latin typeface="Courier New"/>
                <a:ea typeface="Courier New"/>
                <a:cs typeface="Courier New"/>
                <a:sym typeface="Courier New"/>
              </a:rPr>
              <a:t>04_Desarrollo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548640" y="5404104"/>
            <a:ext cx="11064240" cy="512064"/>
          </a:xfrm>
          <a:prstGeom prst="roundRect">
            <a:avLst>
              <a:gd fmla="val 12500" name="adj"/>
            </a:avLst>
          </a:prstGeom>
          <a:solidFill>
            <a:srgbClr val="E9EFFC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"/>
          <p:cNvSpPr/>
          <p:nvPr/>
        </p:nvSpPr>
        <p:spPr>
          <a:xfrm>
            <a:off x="777240" y="5504688"/>
            <a:ext cx="310896" cy="310896"/>
          </a:xfrm>
          <a:prstGeom prst="ellipse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"/>
          <p:cNvSpPr/>
          <p:nvPr/>
        </p:nvSpPr>
        <p:spPr>
          <a:xfrm>
            <a:off x="777240" y="5504688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1280160" y="5404104"/>
            <a:ext cx="749808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Cronograma y bitácora al día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8869680" y="5404104"/>
            <a:ext cx="25603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1E2761"/>
                </a:solidFill>
                <a:latin typeface="Courier New"/>
                <a:ea typeface="Courier New"/>
                <a:cs typeface="Courier New"/>
                <a:sym typeface="Courier New"/>
              </a:rPr>
              <a:t>02 y 03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548640" y="6080760"/>
            <a:ext cx="11064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Lo que marque queda en Checklist_revision_EquipoXX.docx, dentro de su 02_Cronograma.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"/>
          <p:cNvSpPr/>
          <p:nvPr/>
        </p:nvSpPr>
        <p:spPr>
          <a:xfrm>
            <a:off x="9555480" y="384048"/>
            <a:ext cx="2057400" cy="475488"/>
          </a:xfrm>
          <a:prstGeom prst="roundRect">
            <a:avLst>
              <a:gd fmla="val 19231" name="adj"/>
            </a:avLst>
          </a:prstGeom>
          <a:solidFill>
            <a:srgbClr val="F2A71B"/>
          </a:solidFill>
          <a:ln cap="flat" cmpd="sng" w="12700">
            <a:solidFill>
              <a:srgbClr val="F2A7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"/>
          <p:cNvSpPr/>
          <p:nvPr/>
        </p:nvSpPr>
        <p:spPr>
          <a:xfrm>
            <a:off x="9555480" y="384048"/>
            <a:ext cx="20574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BLOQUE 2 · 50 min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548640" y="347472"/>
            <a:ext cx="87782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100"/>
              <a:buFont typeface="Cambria"/>
              <a:buNone/>
            </a:pPr>
            <a:r>
              <a:rPr b="1" i="0" lang="en-US" sz="31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Ahora dibujen el proyecto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Todo a mano, en hojas sueltas. Nadie va a calificar el dibujo.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548640" y="1783080"/>
            <a:ext cx="5349240" cy="1143000"/>
          </a:xfrm>
          <a:prstGeom prst="roundRect">
            <a:avLst>
              <a:gd fmla="val 9600" name="adj"/>
            </a:avLst>
          </a:prstGeom>
          <a:solidFill>
            <a:srgbClr val="E9EFFC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"/>
          <p:cNvSpPr/>
          <p:nvPr/>
        </p:nvSpPr>
        <p:spPr>
          <a:xfrm>
            <a:off x="868680" y="1965960"/>
            <a:ext cx="4709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Una hoja por idea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868680" y="2350008"/>
            <a:ext cx="4709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No amontonen todo en la misma hoja. Numérenlas en una esquina.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6263640" y="1783080"/>
            <a:ext cx="5349240" cy="1143000"/>
          </a:xfrm>
          <a:prstGeom prst="roundRect">
            <a:avLst>
              <a:gd fmla="val 9600" name="adj"/>
            </a:avLst>
          </a:prstGeom>
          <a:solidFill>
            <a:srgbClr val="E9EFFC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"/>
          <p:cNvSpPr/>
          <p:nvPr/>
        </p:nvSpPr>
        <p:spPr>
          <a:xfrm>
            <a:off x="6583680" y="1965960"/>
            <a:ext cx="4709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Lápiz, no marcador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6583680" y="2350008"/>
            <a:ext cx="4709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Se va a borrar y cambiar varias veces. Esa es la idea.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548640" y="3108960"/>
            <a:ext cx="5349240" cy="1143000"/>
          </a:xfrm>
          <a:prstGeom prst="roundRect">
            <a:avLst>
              <a:gd fmla="val 9600" name="adj"/>
            </a:avLst>
          </a:prstGeom>
          <a:solidFill>
            <a:srgbClr val="E9EFFC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"/>
          <p:cNvSpPr/>
          <p:nvPr/>
        </p:nvSpPr>
        <p:spPr>
          <a:xfrm>
            <a:off x="868680" y="3291840"/>
            <a:ext cx="4709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Escriban sobre el dibujo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868680" y="3675888"/>
            <a:ext cx="4709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Nombres, medidas, qué hace cada parte. Sin palabras no se entiende.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6263640" y="3108960"/>
            <a:ext cx="5349240" cy="1143000"/>
          </a:xfrm>
          <a:prstGeom prst="roundRect">
            <a:avLst>
              <a:gd fmla="val 9600" name="adj"/>
            </a:avLst>
          </a:prstGeom>
          <a:solidFill>
            <a:srgbClr val="E9EFFC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6583680" y="3291840"/>
            <a:ext cx="4709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Muñecos de palo sirven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6583680" y="3675888"/>
            <a:ext cx="4709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No se trata de dibujar bonito, se trata de que se entienda.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548640" y="4572000"/>
            <a:ext cx="11064240" cy="1234440"/>
          </a:xfrm>
          <a:prstGeom prst="roundRect">
            <a:avLst>
              <a:gd fmla="val 8889" name="adj"/>
            </a:avLst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"/>
          <p:cNvSpPr/>
          <p:nvPr/>
        </p:nvSpPr>
        <p:spPr>
          <a:xfrm>
            <a:off x="914400" y="4709160"/>
            <a:ext cx="10332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¿Cuál de los tres les toca? Miren su proyecto: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914400" y="5074920"/>
            <a:ext cx="10332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Animación o video  →  Storyboard        Objeto o montaje  →  Boceto del prototipo        App, juego o página  →  Wireframe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"/>
          <p:cNvSpPr/>
          <p:nvPr/>
        </p:nvSpPr>
        <p:spPr>
          <a:xfrm>
            <a:off x="9555480" y="384048"/>
            <a:ext cx="2057400" cy="475488"/>
          </a:xfrm>
          <a:prstGeom prst="roundRect">
            <a:avLst>
              <a:gd fmla="val 19231" name="adj"/>
            </a:avLst>
          </a:prstGeom>
          <a:solidFill>
            <a:srgbClr val="F2A71B"/>
          </a:solidFill>
          <a:ln cap="flat" cmpd="sng" w="12700">
            <a:solidFill>
              <a:srgbClr val="F2A7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"/>
          <p:cNvSpPr/>
          <p:nvPr/>
        </p:nvSpPr>
        <p:spPr>
          <a:xfrm>
            <a:off x="9555480" y="384048"/>
            <a:ext cx="20574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ANIMACIÓN O VIDEO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548640" y="347472"/>
            <a:ext cx="87782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100"/>
              <a:buFont typeface="Cambria"/>
              <a:buNone/>
            </a:pPr>
            <a:r>
              <a:rPr b="1" i="0" lang="en-US" sz="31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Storyboard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Cada cuadro es un momento de la historia. Mínimo seis cuadros.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685800" y="1828800"/>
            <a:ext cx="1828800" cy="123444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5"/>
          <p:cNvSpPr/>
          <p:nvPr/>
        </p:nvSpPr>
        <p:spPr>
          <a:xfrm>
            <a:off x="740664" y="1874520"/>
            <a:ext cx="274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1463040" y="2194560"/>
            <a:ext cx="274320" cy="274320"/>
          </a:xfrm>
          <a:prstGeom prst="ellipse">
            <a:avLst/>
          </a:prstGeom>
          <a:solidFill>
            <a:srgbClr val="FFFFFF"/>
          </a:solidFill>
          <a:ln cap="flat" cmpd="sng" w="15225">
            <a:solidFill>
              <a:srgbClr val="8888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3" name="Google Shape;123;p5"/>
          <p:cNvCxnSpPr/>
          <p:nvPr/>
        </p:nvCxnSpPr>
        <p:spPr>
          <a:xfrm>
            <a:off x="1600200" y="2468880"/>
            <a:ext cx="0" cy="320040"/>
          </a:xfrm>
          <a:prstGeom prst="straightConnector1">
            <a:avLst/>
          </a:prstGeom>
          <a:noFill/>
          <a:ln cap="flat" cmpd="sng" w="15225">
            <a:solidFill>
              <a:srgbClr val="88888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4" name="Google Shape;124;p5"/>
          <p:cNvSpPr/>
          <p:nvPr/>
        </p:nvSpPr>
        <p:spPr>
          <a:xfrm>
            <a:off x="685800" y="3063240"/>
            <a:ext cx="1828800" cy="457200"/>
          </a:xfrm>
          <a:prstGeom prst="rect">
            <a:avLst/>
          </a:prstGeom>
          <a:solidFill>
            <a:srgbClr val="E9EFFC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"/>
          <p:cNvSpPr/>
          <p:nvPr/>
        </p:nvSpPr>
        <p:spPr>
          <a:xfrm>
            <a:off x="685800" y="306324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qué se escucha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2834640" y="1828800"/>
            <a:ext cx="1828800" cy="123444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"/>
          <p:cNvSpPr/>
          <p:nvPr/>
        </p:nvSpPr>
        <p:spPr>
          <a:xfrm>
            <a:off x="2889504" y="1874520"/>
            <a:ext cx="274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3611880" y="2194560"/>
            <a:ext cx="274320" cy="274320"/>
          </a:xfrm>
          <a:prstGeom prst="ellipse">
            <a:avLst/>
          </a:prstGeom>
          <a:solidFill>
            <a:srgbClr val="FFFFFF"/>
          </a:solidFill>
          <a:ln cap="flat" cmpd="sng" w="15225">
            <a:solidFill>
              <a:srgbClr val="8888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9" name="Google Shape;129;p5"/>
          <p:cNvCxnSpPr/>
          <p:nvPr/>
        </p:nvCxnSpPr>
        <p:spPr>
          <a:xfrm>
            <a:off x="3749040" y="2468880"/>
            <a:ext cx="0" cy="320040"/>
          </a:xfrm>
          <a:prstGeom prst="straightConnector1">
            <a:avLst/>
          </a:prstGeom>
          <a:noFill/>
          <a:ln cap="flat" cmpd="sng" w="15225">
            <a:solidFill>
              <a:srgbClr val="88888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0" name="Google Shape;130;p5"/>
          <p:cNvSpPr/>
          <p:nvPr/>
        </p:nvSpPr>
        <p:spPr>
          <a:xfrm>
            <a:off x="2834640" y="3063240"/>
            <a:ext cx="1828800" cy="457200"/>
          </a:xfrm>
          <a:prstGeom prst="rect">
            <a:avLst/>
          </a:prstGeom>
          <a:solidFill>
            <a:srgbClr val="E9EFFC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"/>
          <p:cNvSpPr/>
          <p:nvPr/>
        </p:nvSpPr>
        <p:spPr>
          <a:xfrm>
            <a:off x="2834640" y="306324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qué se escucha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4983480" y="1828800"/>
            <a:ext cx="1828800" cy="123444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"/>
          <p:cNvSpPr/>
          <p:nvPr/>
        </p:nvSpPr>
        <p:spPr>
          <a:xfrm>
            <a:off x="5038344" y="1874520"/>
            <a:ext cx="274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5760720" y="2194560"/>
            <a:ext cx="274320" cy="274320"/>
          </a:xfrm>
          <a:prstGeom prst="ellipse">
            <a:avLst/>
          </a:prstGeom>
          <a:solidFill>
            <a:srgbClr val="FFFFFF"/>
          </a:solidFill>
          <a:ln cap="flat" cmpd="sng" w="15225">
            <a:solidFill>
              <a:srgbClr val="8888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5" name="Google Shape;135;p5"/>
          <p:cNvCxnSpPr/>
          <p:nvPr/>
        </p:nvCxnSpPr>
        <p:spPr>
          <a:xfrm>
            <a:off x="5897880" y="2468880"/>
            <a:ext cx="0" cy="320040"/>
          </a:xfrm>
          <a:prstGeom prst="straightConnector1">
            <a:avLst/>
          </a:prstGeom>
          <a:noFill/>
          <a:ln cap="flat" cmpd="sng" w="15225">
            <a:solidFill>
              <a:srgbClr val="88888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6" name="Google Shape;136;p5"/>
          <p:cNvSpPr/>
          <p:nvPr/>
        </p:nvSpPr>
        <p:spPr>
          <a:xfrm>
            <a:off x="4983480" y="3063240"/>
            <a:ext cx="1828800" cy="457200"/>
          </a:xfrm>
          <a:prstGeom prst="rect">
            <a:avLst/>
          </a:prstGeom>
          <a:solidFill>
            <a:srgbClr val="E9EFFC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"/>
          <p:cNvSpPr/>
          <p:nvPr/>
        </p:nvSpPr>
        <p:spPr>
          <a:xfrm>
            <a:off x="4983480" y="306324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qué se escucha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6400800" y="2286000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...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7315200" y="1783080"/>
            <a:ext cx="4297680" cy="1783080"/>
          </a:xfrm>
          <a:prstGeom prst="roundRect">
            <a:avLst>
              <a:gd fmla="val 6154" name="adj"/>
            </a:avLst>
          </a:prstGeom>
          <a:solidFill>
            <a:srgbClr val="E9EFFC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"/>
          <p:cNvSpPr/>
          <p:nvPr/>
        </p:nvSpPr>
        <p:spPr>
          <a:xfrm>
            <a:off x="7589520" y="1965960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En cada cuadro dibuja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7589520" y="2368296"/>
            <a:ext cx="3749040" cy="996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Lo que se ve en pantalla en ese momento: quién aparece, dónde está y desde dónde se mira.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7315200" y="3749040"/>
            <a:ext cx="4297680" cy="1783080"/>
          </a:xfrm>
          <a:prstGeom prst="roundRect">
            <a:avLst>
              <a:gd fmla="val 6154" name="adj"/>
            </a:avLst>
          </a:prstGeom>
          <a:solidFill>
            <a:srgbClr val="FDF3DE"/>
          </a:solidFill>
          <a:ln cap="flat" cmpd="sng" w="12700">
            <a:solidFill>
              <a:srgbClr val="E8D3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"/>
          <p:cNvSpPr/>
          <p:nvPr/>
        </p:nvSpPr>
        <p:spPr>
          <a:xfrm>
            <a:off x="7589520" y="3931920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Y debajo escribe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7589520" y="4334256"/>
            <a:ext cx="3749040" cy="996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Qué se escucha: diálogo, música o sonido.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Cuántos segundos dura ese momento.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548640" y="4023360"/>
            <a:ext cx="6400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Con seis cuadros ya se entiende una historia completa: cómo empieza, qué pasa y cómo termina.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548640" y="4937760"/>
            <a:ext cx="6400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Numera los cuadros en orden. Si un momento cambia mucho, dibújalo en dos cuadros y no en uno.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"/>
          <p:cNvSpPr/>
          <p:nvPr/>
        </p:nvSpPr>
        <p:spPr>
          <a:xfrm>
            <a:off x="9555480" y="384048"/>
            <a:ext cx="2057400" cy="475488"/>
          </a:xfrm>
          <a:prstGeom prst="roundRect">
            <a:avLst>
              <a:gd fmla="val 19231" name="adj"/>
            </a:avLst>
          </a:prstGeom>
          <a:solidFill>
            <a:srgbClr val="F2A71B"/>
          </a:solidFill>
          <a:ln cap="flat" cmpd="sng" w="12700">
            <a:solidFill>
              <a:srgbClr val="F2A7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"/>
          <p:cNvSpPr/>
          <p:nvPr/>
        </p:nvSpPr>
        <p:spPr>
          <a:xfrm>
            <a:off x="9555480" y="384048"/>
            <a:ext cx="20574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OBJETO O MONTAJE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548640" y="347472"/>
            <a:ext cx="87782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100"/>
              <a:buFont typeface="Cambria"/>
              <a:buNone/>
            </a:pPr>
            <a:r>
              <a:rPr b="1" i="0" lang="en-US" sz="31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Boceto del prototipo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Dibuja el objeto desde dos lados y ponle nombre a cada parte.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685800" y="1828800"/>
            <a:ext cx="2834640" cy="2286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6"/>
          <p:cNvSpPr/>
          <p:nvPr/>
        </p:nvSpPr>
        <p:spPr>
          <a:xfrm>
            <a:off x="685800" y="1920240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Vista de frente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1463040" y="2468880"/>
            <a:ext cx="1280160" cy="1005840"/>
          </a:xfrm>
          <a:prstGeom prst="rect">
            <a:avLst/>
          </a:prstGeom>
          <a:solidFill>
            <a:srgbClr val="E9EFFC"/>
          </a:solidFill>
          <a:ln cap="flat" cmpd="sng" w="152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6"/>
          <p:cNvSpPr/>
          <p:nvPr/>
        </p:nvSpPr>
        <p:spPr>
          <a:xfrm>
            <a:off x="1691640" y="2697480"/>
            <a:ext cx="320040" cy="320040"/>
          </a:xfrm>
          <a:prstGeom prst="ellipse">
            <a:avLst/>
          </a:prstGeom>
          <a:solidFill>
            <a:srgbClr val="FFFFFF"/>
          </a:solidFill>
          <a:ln cap="flat" cmpd="sng" w="152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0" name="Google Shape;160;p6"/>
          <p:cNvCxnSpPr/>
          <p:nvPr/>
        </p:nvCxnSpPr>
        <p:spPr>
          <a:xfrm flipH="1" rot="10800000">
            <a:off x="2011680" y="2441448"/>
            <a:ext cx="777240" cy="411480"/>
          </a:xfrm>
          <a:prstGeom prst="straightConnector1">
            <a:avLst/>
          </a:prstGeom>
          <a:noFill/>
          <a:ln cap="flat" cmpd="sng" w="15225">
            <a:solidFill>
              <a:srgbClr val="F2A71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1" name="Google Shape;161;p6"/>
          <p:cNvSpPr/>
          <p:nvPr/>
        </p:nvSpPr>
        <p:spPr>
          <a:xfrm>
            <a:off x="2697480" y="2304288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740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87400"/>
                </a:solidFill>
                <a:latin typeface="Calibri"/>
                <a:ea typeface="Calibri"/>
                <a:cs typeface="Calibri"/>
                <a:sym typeface="Calibri"/>
              </a:rPr>
              <a:t>sensor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1463040" y="3566160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12 cm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3794760" y="1828800"/>
            <a:ext cx="2834640" cy="2286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"/>
          <p:cNvSpPr/>
          <p:nvPr/>
        </p:nvSpPr>
        <p:spPr>
          <a:xfrm>
            <a:off x="3794760" y="1920240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Vista de lado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4754880" y="2468880"/>
            <a:ext cx="822960" cy="1005840"/>
          </a:xfrm>
          <a:prstGeom prst="rect">
            <a:avLst/>
          </a:prstGeom>
          <a:solidFill>
            <a:srgbClr val="E9EFFC"/>
          </a:solidFill>
          <a:ln cap="flat" cmpd="sng" w="152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"/>
          <p:cNvSpPr/>
          <p:nvPr/>
        </p:nvSpPr>
        <p:spPr>
          <a:xfrm>
            <a:off x="5623560" y="2788920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740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87400"/>
                </a:solidFill>
                <a:latin typeface="Calibri"/>
                <a:ea typeface="Calibri"/>
                <a:cs typeface="Calibri"/>
                <a:sym typeface="Calibri"/>
              </a:rPr>
              <a:t>→ gira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7040880" y="1901952"/>
            <a:ext cx="329184" cy="329184"/>
          </a:xfrm>
          <a:prstGeom prst="ellipse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"/>
          <p:cNvSpPr/>
          <p:nvPr/>
        </p:nvSpPr>
        <p:spPr>
          <a:xfrm>
            <a:off x="7040880" y="190195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7543800" y="1828800"/>
            <a:ext cx="40690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Dibuja el objeto de frente y de lado, en dos recuadros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7040880" y="2496312"/>
            <a:ext cx="329184" cy="329184"/>
          </a:xfrm>
          <a:prstGeom prst="ellipse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6"/>
          <p:cNvSpPr/>
          <p:nvPr/>
        </p:nvSpPr>
        <p:spPr>
          <a:xfrm>
            <a:off x="7040880" y="249631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7543800" y="2423160"/>
            <a:ext cx="40690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Saca una línea desde cada parte y escribe su nombre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7040880" y="3090672"/>
            <a:ext cx="329184" cy="329184"/>
          </a:xfrm>
          <a:prstGeom prst="ellipse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"/>
          <p:cNvSpPr/>
          <p:nvPr/>
        </p:nvSpPr>
        <p:spPr>
          <a:xfrm>
            <a:off x="7040880" y="309067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7543800" y="3017520"/>
            <a:ext cx="40690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Anota las medidas aproximadas: alto, ancho, largo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7040880" y="3685032"/>
            <a:ext cx="329184" cy="329184"/>
          </a:xfrm>
          <a:prstGeom prst="ellipse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6"/>
          <p:cNvSpPr/>
          <p:nvPr/>
        </p:nvSpPr>
        <p:spPr>
          <a:xfrm>
            <a:off x="7040880" y="368503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7543800" y="3611880"/>
            <a:ext cx="40690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Marca con una flecha lo que se mueve, se enciende o se conecta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548640" y="434340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No importa que quede torcido. Importa que otra persona pueda armarlo mirando su dibujo.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"/>
          <p:cNvSpPr/>
          <p:nvPr/>
        </p:nvSpPr>
        <p:spPr>
          <a:xfrm>
            <a:off x="9555480" y="384048"/>
            <a:ext cx="2057400" cy="475488"/>
          </a:xfrm>
          <a:prstGeom prst="roundRect">
            <a:avLst>
              <a:gd fmla="val 19231" name="adj"/>
            </a:avLst>
          </a:prstGeom>
          <a:solidFill>
            <a:srgbClr val="F2A71B"/>
          </a:solidFill>
          <a:ln cap="flat" cmpd="sng" w="12700">
            <a:solidFill>
              <a:srgbClr val="F2A7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7"/>
          <p:cNvSpPr/>
          <p:nvPr/>
        </p:nvSpPr>
        <p:spPr>
          <a:xfrm>
            <a:off x="9555480" y="384048"/>
            <a:ext cx="20574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APP, JUEGO O PÁGINA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548640" y="347472"/>
            <a:ext cx="87782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100"/>
              <a:buFont typeface="Cambria"/>
              <a:buNone/>
            </a:pPr>
            <a:r>
              <a:rPr b="1" i="0" lang="en-US" sz="31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Wireframe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Un rectángulo es una pantalla. Adentro van cajas, no dibujos.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640080" y="1828800"/>
            <a:ext cx="1572768" cy="265176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7"/>
          <p:cNvSpPr/>
          <p:nvPr/>
        </p:nvSpPr>
        <p:spPr>
          <a:xfrm>
            <a:off x="640080" y="1901952"/>
            <a:ext cx="15727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Inicio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841248" y="2240280"/>
            <a:ext cx="1170432" cy="685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8888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2" name="Google Shape;192;p7"/>
          <p:cNvCxnSpPr/>
          <p:nvPr/>
        </p:nvCxnSpPr>
        <p:spPr>
          <a:xfrm>
            <a:off x="841248" y="2240280"/>
            <a:ext cx="1170432" cy="685800"/>
          </a:xfrm>
          <a:prstGeom prst="straightConnector1">
            <a:avLst/>
          </a:prstGeom>
          <a:noFill/>
          <a:ln cap="flat" cmpd="sng" w="1015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3" name="Google Shape;193;p7"/>
          <p:cNvCxnSpPr/>
          <p:nvPr/>
        </p:nvCxnSpPr>
        <p:spPr>
          <a:xfrm flipH="1" rot="10800000">
            <a:off x="841248" y="2240280"/>
            <a:ext cx="1170432" cy="685800"/>
          </a:xfrm>
          <a:prstGeom prst="straightConnector1">
            <a:avLst/>
          </a:prstGeom>
          <a:noFill/>
          <a:ln cap="flat" cmpd="sng" w="1015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4" name="Google Shape;194;p7"/>
          <p:cNvCxnSpPr/>
          <p:nvPr/>
        </p:nvCxnSpPr>
        <p:spPr>
          <a:xfrm>
            <a:off x="841248" y="3108960"/>
            <a:ext cx="1170432" cy="0"/>
          </a:xfrm>
          <a:prstGeom prst="straightConnector1">
            <a:avLst/>
          </a:prstGeom>
          <a:noFill/>
          <a:ln cap="flat" cmpd="sng" w="1777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5" name="Google Shape;195;p7"/>
          <p:cNvCxnSpPr/>
          <p:nvPr/>
        </p:nvCxnSpPr>
        <p:spPr>
          <a:xfrm>
            <a:off x="841248" y="3291840"/>
            <a:ext cx="822960" cy="0"/>
          </a:xfrm>
          <a:prstGeom prst="straightConnector1">
            <a:avLst/>
          </a:prstGeom>
          <a:noFill/>
          <a:ln cap="flat" cmpd="sng" w="1777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6" name="Google Shape;196;p7"/>
          <p:cNvSpPr/>
          <p:nvPr/>
        </p:nvSpPr>
        <p:spPr>
          <a:xfrm>
            <a:off x="914400" y="3566160"/>
            <a:ext cx="1024128" cy="411480"/>
          </a:xfrm>
          <a:prstGeom prst="roundRect">
            <a:avLst>
              <a:gd fmla="val 17778" name="adj"/>
            </a:avLst>
          </a:prstGeom>
          <a:solidFill>
            <a:srgbClr val="E9EFFC"/>
          </a:solidFill>
          <a:ln cap="flat" cmpd="sng" w="1522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7"/>
          <p:cNvSpPr/>
          <p:nvPr/>
        </p:nvSpPr>
        <p:spPr>
          <a:xfrm>
            <a:off x="914400" y="3566160"/>
            <a:ext cx="102412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Entrar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2231136" y="356616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A71B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2A71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2606040" y="1828800"/>
            <a:ext cx="1572768" cy="265176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7"/>
          <p:cNvSpPr/>
          <p:nvPr/>
        </p:nvSpPr>
        <p:spPr>
          <a:xfrm>
            <a:off x="2606040" y="1901952"/>
            <a:ext cx="15727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Menú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2807208" y="2240280"/>
            <a:ext cx="1170432" cy="685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8888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2" name="Google Shape;202;p7"/>
          <p:cNvCxnSpPr/>
          <p:nvPr/>
        </p:nvCxnSpPr>
        <p:spPr>
          <a:xfrm>
            <a:off x="2807208" y="2240280"/>
            <a:ext cx="1170432" cy="685800"/>
          </a:xfrm>
          <a:prstGeom prst="straightConnector1">
            <a:avLst/>
          </a:prstGeom>
          <a:noFill/>
          <a:ln cap="flat" cmpd="sng" w="1015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3" name="Google Shape;203;p7"/>
          <p:cNvCxnSpPr/>
          <p:nvPr/>
        </p:nvCxnSpPr>
        <p:spPr>
          <a:xfrm flipH="1" rot="10800000">
            <a:off x="2807208" y="2240280"/>
            <a:ext cx="1170432" cy="685800"/>
          </a:xfrm>
          <a:prstGeom prst="straightConnector1">
            <a:avLst/>
          </a:prstGeom>
          <a:noFill/>
          <a:ln cap="flat" cmpd="sng" w="1015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4" name="Google Shape;204;p7"/>
          <p:cNvCxnSpPr/>
          <p:nvPr/>
        </p:nvCxnSpPr>
        <p:spPr>
          <a:xfrm>
            <a:off x="2807208" y="3108960"/>
            <a:ext cx="1170432" cy="0"/>
          </a:xfrm>
          <a:prstGeom prst="straightConnector1">
            <a:avLst/>
          </a:prstGeom>
          <a:noFill/>
          <a:ln cap="flat" cmpd="sng" w="1777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5" name="Google Shape;205;p7"/>
          <p:cNvCxnSpPr/>
          <p:nvPr/>
        </p:nvCxnSpPr>
        <p:spPr>
          <a:xfrm>
            <a:off x="2807208" y="3291840"/>
            <a:ext cx="822960" cy="0"/>
          </a:xfrm>
          <a:prstGeom prst="straightConnector1">
            <a:avLst/>
          </a:prstGeom>
          <a:noFill/>
          <a:ln cap="flat" cmpd="sng" w="1777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6" name="Google Shape;206;p7"/>
          <p:cNvSpPr/>
          <p:nvPr/>
        </p:nvSpPr>
        <p:spPr>
          <a:xfrm>
            <a:off x="2880360" y="3566160"/>
            <a:ext cx="1024128" cy="411480"/>
          </a:xfrm>
          <a:prstGeom prst="roundRect">
            <a:avLst>
              <a:gd fmla="val 17778" name="adj"/>
            </a:avLst>
          </a:prstGeom>
          <a:solidFill>
            <a:srgbClr val="E9EFFC"/>
          </a:solidFill>
          <a:ln cap="flat" cmpd="sng" w="1522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7"/>
          <p:cNvSpPr/>
          <p:nvPr/>
        </p:nvSpPr>
        <p:spPr>
          <a:xfrm>
            <a:off x="2880360" y="3566160"/>
            <a:ext cx="102412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Entrar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4197096" y="356616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A71B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2A71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4572000" y="1828800"/>
            <a:ext cx="1572900" cy="26517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7"/>
          <p:cNvSpPr/>
          <p:nvPr/>
        </p:nvSpPr>
        <p:spPr>
          <a:xfrm>
            <a:off x="4572000" y="1901952"/>
            <a:ext cx="15727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Juego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4773168" y="2240280"/>
            <a:ext cx="1170432" cy="685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8888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2" name="Google Shape;212;p7"/>
          <p:cNvCxnSpPr/>
          <p:nvPr/>
        </p:nvCxnSpPr>
        <p:spPr>
          <a:xfrm>
            <a:off x="4773168" y="2240280"/>
            <a:ext cx="1170432" cy="685800"/>
          </a:xfrm>
          <a:prstGeom prst="straightConnector1">
            <a:avLst/>
          </a:prstGeom>
          <a:noFill/>
          <a:ln cap="flat" cmpd="sng" w="1015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3" name="Google Shape;213;p7"/>
          <p:cNvCxnSpPr/>
          <p:nvPr/>
        </p:nvCxnSpPr>
        <p:spPr>
          <a:xfrm flipH="1" rot="10800000">
            <a:off x="4773168" y="2240280"/>
            <a:ext cx="1170432" cy="685800"/>
          </a:xfrm>
          <a:prstGeom prst="straightConnector1">
            <a:avLst/>
          </a:prstGeom>
          <a:noFill/>
          <a:ln cap="flat" cmpd="sng" w="1015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4" name="Google Shape;214;p7"/>
          <p:cNvCxnSpPr/>
          <p:nvPr/>
        </p:nvCxnSpPr>
        <p:spPr>
          <a:xfrm>
            <a:off x="4773168" y="3108960"/>
            <a:ext cx="1170432" cy="0"/>
          </a:xfrm>
          <a:prstGeom prst="straightConnector1">
            <a:avLst/>
          </a:prstGeom>
          <a:noFill/>
          <a:ln cap="flat" cmpd="sng" w="1777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5" name="Google Shape;215;p7"/>
          <p:cNvCxnSpPr/>
          <p:nvPr/>
        </p:nvCxnSpPr>
        <p:spPr>
          <a:xfrm>
            <a:off x="4773168" y="3291840"/>
            <a:ext cx="822960" cy="0"/>
          </a:xfrm>
          <a:prstGeom prst="straightConnector1">
            <a:avLst/>
          </a:prstGeom>
          <a:noFill/>
          <a:ln cap="flat" cmpd="sng" w="1777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6" name="Google Shape;216;p7"/>
          <p:cNvSpPr/>
          <p:nvPr/>
        </p:nvSpPr>
        <p:spPr>
          <a:xfrm>
            <a:off x="4846320" y="3566160"/>
            <a:ext cx="1024128" cy="411480"/>
          </a:xfrm>
          <a:prstGeom prst="roundRect">
            <a:avLst>
              <a:gd fmla="val 17778" name="adj"/>
            </a:avLst>
          </a:prstGeom>
          <a:solidFill>
            <a:srgbClr val="E9EFFC"/>
          </a:solidFill>
          <a:ln cap="flat" cmpd="sng" w="1522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7"/>
          <p:cNvSpPr/>
          <p:nvPr/>
        </p:nvSpPr>
        <p:spPr>
          <a:xfrm>
            <a:off x="4846320" y="3566160"/>
            <a:ext cx="102412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Volver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640080" y="4617720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7400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A87400"/>
                </a:solidFill>
                <a:latin typeface="Calibri"/>
                <a:ea typeface="Calibri"/>
                <a:cs typeface="Calibri"/>
                <a:sym typeface="Calibri"/>
              </a:rPr>
              <a:t>La flecha sale del botón y llega a la pantalla que abre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6583680" y="173736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Cómo se dibuja cada cosa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7"/>
          <p:cNvSpPr/>
          <p:nvPr/>
        </p:nvSpPr>
        <p:spPr>
          <a:xfrm>
            <a:off x="6583680" y="2194560"/>
            <a:ext cx="5029200" cy="566928"/>
          </a:xfrm>
          <a:prstGeom prst="roundRect">
            <a:avLst>
              <a:gd fmla="val 11290" name="adj"/>
            </a:avLst>
          </a:prstGeom>
          <a:solidFill>
            <a:srgbClr val="E9EFFC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7"/>
          <p:cNvSpPr/>
          <p:nvPr/>
        </p:nvSpPr>
        <p:spPr>
          <a:xfrm>
            <a:off x="6766560" y="2231136"/>
            <a:ext cx="46634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Caja con una X cruzada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7"/>
          <p:cNvSpPr/>
          <p:nvPr/>
        </p:nvSpPr>
        <p:spPr>
          <a:xfrm>
            <a:off x="6766560" y="2468880"/>
            <a:ext cx="46634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Ahí va una imagen o un video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7"/>
          <p:cNvSpPr/>
          <p:nvPr/>
        </p:nvSpPr>
        <p:spPr>
          <a:xfrm>
            <a:off x="6583680" y="2852928"/>
            <a:ext cx="5029200" cy="566928"/>
          </a:xfrm>
          <a:prstGeom prst="roundRect">
            <a:avLst>
              <a:gd fmla="val 11290" name="adj"/>
            </a:avLst>
          </a:prstGeom>
          <a:solidFill>
            <a:srgbClr val="F4F7FD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7"/>
          <p:cNvSpPr/>
          <p:nvPr/>
        </p:nvSpPr>
        <p:spPr>
          <a:xfrm>
            <a:off x="6766560" y="2889504"/>
            <a:ext cx="46634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Líneas rectas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7"/>
          <p:cNvSpPr/>
          <p:nvPr/>
        </p:nvSpPr>
        <p:spPr>
          <a:xfrm>
            <a:off x="6766560" y="3127248"/>
            <a:ext cx="46634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Ahí va texto. No hay que escribirlo todo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7"/>
          <p:cNvSpPr/>
          <p:nvPr/>
        </p:nvSpPr>
        <p:spPr>
          <a:xfrm>
            <a:off x="6583680" y="3511296"/>
            <a:ext cx="5029200" cy="566928"/>
          </a:xfrm>
          <a:prstGeom prst="roundRect">
            <a:avLst>
              <a:gd fmla="val 11290" name="adj"/>
            </a:avLst>
          </a:prstGeom>
          <a:solidFill>
            <a:srgbClr val="E9EFFC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7"/>
          <p:cNvSpPr/>
          <p:nvPr/>
        </p:nvSpPr>
        <p:spPr>
          <a:xfrm>
            <a:off x="6766560" y="3547872"/>
            <a:ext cx="46634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Rectángulo redondeado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7"/>
          <p:cNvSpPr/>
          <p:nvPr/>
        </p:nvSpPr>
        <p:spPr>
          <a:xfrm>
            <a:off x="6766560" y="3785616"/>
            <a:ext cx="46634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Es un botón. Escríbele adentro su nombre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7"/>
          <p:cNvSpPr/>
          <p:nvPr/>
        </p:nvSpPr>
        <p:spPr>
          <a:xfrm>
            <a:off x="6583680" y="4169664"/>
            <a:ext cx="5029200" cy="566928"/>
          </a:xfrm>
          <a:prstGeom prst="roundRect">
            <a:avLst>
              <a:gd fmla="val 11290" name="adj"/>
            </a:avLst>
          </a:prstGeom>
          <a:solidFill>
            <a:srgbClr val="F4F7FD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7"/>
          <p:cNvSpPr/>
          <p:nvPr/>
        </p:nvSpPr>
        <p:spPr>
          <a:xfrm>
            <a:off x="6766560" y="4206240"/>
            <a:ext cx="46634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Flecha entre pantallas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7"/>
          <p:cNvSpPr/>
          <p:nvPr/>
        </p:nvSpPr>
        <p:spPr>
          <a:xfrm>
            <a:off x="6766560" y="4443984"/>
            <a:ext cx="46634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Qué pantalla se abre al tocar ese botón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7"/>
          <p:cNvSpPr/>
          <p:nvPr/>
        </p:nvSpPr>
        <p:spPr>
          <a:xfrm>
            <a:off x="548640" y="507492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Mínimo tres pantallas. Sin colores y sin dibujos bonitos: solo cajas, palabras y flechas.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7"/>
          <p:cNvSpPr/>
          <p:nvPr/>
        </p:nvSpPr>
        <p:spPr>
          <a:xfrm>
            <a:off x="548640" y="548640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Si su proyecto es un juego, una pantalla es cada momento distinto: el menú, el juego andando y la pantalla de fin.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8"/>
          <p:cNvSpPr/>
          <p:nvPr/>
        </p:nvSpPr>
        <p:spPr>
          <a:xfrm>
            <a:off x="9555480" y="384048"/>
            <a:ext cx="2057400" cy="475488"/>
          </a:xfrm>
          <a:prstGeom prst="roundRect">
            <a:avLst>
              <a:gd fmla="val 19231" name="adj"/>
            </a:avLst>
          </a:prstGeom>
          <a:solidFill>
            <a:srgbClr val="F2A71B"/>
          </a:solidFill>
          <a:ln cap="flat" cmpd="sng" w="12700">
            <a:solidFill>
              <a:srgbClr val="F2A7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8"/>
          <p:cNvSpPr/>
          <p:nvPr/>
        </p:nvSpPr>
        <p:spPr>
          <a:xfrm>
            <a:off x="9555480" y="384048"/>
            <a:ext cx="20574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CIERRE · 10 min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8"/>
          <p:cNvSpPr/>
          <p:nvPr/>
        </p:nvSpPr>
        <p:spPr>
          <a:xfrm>
            <a:off x="548640" y="347472"/>
            <a:ext cx="87782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100"/>
              <a:buFont typeface="Cambria"/>
              <a:buNone/>
            </a:pPr>
            <a:r>
              <a:rPr b="1" i="0" lang="en-US" sz="31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Con esto se cierra la clase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8"/>
          <p:cNvSpPr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Tres cosas concretas, nada más.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8"/>
          <p:cNvSpPr/>
          <p:nvPr/>
        </p:nvSpPr>
        <p:spPr>
          <a:xfrm>
            <a:off x="548640" y="1783080"/>
            <a:ext cx="3520440" cy="2926080"/>
          </a:xfrm>
          <a:prstGeom prst="roundRect">
            <a:avLst>
              <a:gd fmla="val 3750" name="adj"/>
            </a:avLst>
          </a:prstGeom>
          <a:solidFill>
            <a:srgbClr val="E9EFFC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8"/>
          <p:cNvSpPr/>
          <p:nvPr/>
        </p:nvSpPr>
        <p:spPr>
          <a:xfrm>
            <a:off x="868680" y="2011680"/>
            <a:ext cx="548640" cy="548640"/>
          </a:xfrm>
          <a:prstGeom prst="ellipse">
            <a:avLst/>
          </a:prstGeom>
          <a:solidFill>
            <a:srgbClr val="1E2761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8"/>
          <p:cNvSpPr/>
          <p:nvPr/>
        </p:nvSpPr>
        <p:spPr>
          <a:xfrm>
            <a:off x="868680" y="20116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8"/>
          <p:cNvSpPr/>
          <p:nvPr/>
        </p:nvSpPr>
        <p:spPr>
          <a:xfrm>
            <a:off x="1508760" y="2084832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Las hojas dibujadas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8"/>
          <p:cNvSpPr/>
          <p:nvPr/>
        </p:nvSpPr>
        <p:spPr>
          <a:xfrm>
            <a:off x="868680" y="2743200"/>
            <a:ext cx="288036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Storyboard: mínimo 6 cuadros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Prototipo: 2 vistas con nombres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Wireframe: mínimo 3 pantallas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8"/>
          <p:cNvSpPr/>
          <p:nvPr/>
        </p:nvSpPr>
        <p:spPr>
          <a:xfrm>
            <a:off x="4315968" y="1783080"/>
            <a:ext cx="3520440" cy="2926080"/>
          </a:xfrm>
          <a:prstGeom prst="roundRect">
            <a:avLst>
              <a:gd fmla="val 3750" name="adj"/>
            </a:avLst>
          </a:prstGeom>
          <a:solidFill>
            <a:srgbClr val="E9EFFC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8"/>
          <p:cNvSpPr/>
          <p:nvPr/>
        </p:nvSpPr>
        <p:spPr>
          <a:xfrm>
            <a:off x="4636008" y="2011680"/>
            <a:ext cx="548640" cy="548640"/>
          </a:xfrm>
          <a:prstGeom prst="ellipse">
            <a:avLst/>
          </a:prstGeom>
          <a:solidFill>
            <a:srgbClr val="F2A71B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8"/>
          <p:cNvSpPr/>
          <p:nvPr/>
        </p:nvSpPr>
        <p:spPr>
          <a:xfrm>
            <a:off x="4636008" y="20116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8"/>
          <p:cNvSpPr/>
          <p:nvPr/>
        </p:nvSpPr>
        <p:spPr>
          <a:xfrm>
            <a:off x="5276088" y="2084832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La foto en Drive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8"/>
          <p:cNvSpPr/>
          <p:nvPr/>
        </p:nvSpPr>
        <p:spPr>
          <a:xfrm>
            <a:off x="4636008" y="2743200"/>
            <a:ext cx="288036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Todas las hojas juntas sobre la mesa.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En 04_Desarrollo, como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2026-08-12_bocetos.jpg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8"/>
          <p:cNvSpPr/>
          <p:nvPr/>
        </p:nvSpPr>
        <p:spPr>
          <a:xfrm>
            <a:off x="8083296" y="1783080"/>
            <a:ext cx="3520440" cy="2926080"/>
          </a:xfrm>
          <a:prstGeom prst="roundRect">
            <a:avLst>
              <a:gd fmla="val 3750" name="adj"/>
            </a:avLst>
          </a:prstGeom>
          <a:solidFill>
            <a:srgbClr val="E9EFFC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8"/>
          <p:cNvSpPr/>
          <p:nvPr/>
        </p:nvSpPr>
        <p:spPr>
          <a:xfrm>
            <a:off x="8403336" y="2011680"/>
            <a:ext cx="548640" cy="548640"/>
          </a:xfrm>
          <a:prstGeom prst="ellipse">
            <a:avLst/>
          </a:prstGeom>
          <a:solidFill>
            <a:srgbClr val="1E2761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8"/>
          <p:cNvSpPr/>
          <p:nvPr/>
        </p:nvSpPr>
        <p:spPr>
          <a:xfrm>
            <a:off x="8403336" y="20116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8"/>
          <p:cNvSpPr/>
          <p:nvPr/>
        </p:nvSpPr>
        <p:spPr>
          <a:xfrm>
            <a:off x="9043416" y="2084832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El registro lleno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8"/>
          <p:cNvSpPr/>
          <p:nvPr/>
        </p:nvSpPr>
        <p:spPr>
          <a:xfrm>
            <a:off x="8403336" y="2743200"/>
            <a:ext cx="288036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Bocetos_EquipoXX.docx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Qué dibujaron y qué no supieron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hacer, empezando con "no logramos"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8"/>
          <p:cNvSpPr/>
          <p:nvPr/>
        </p:nvSpPr>
        <p:spPr>
          <a:xfrm>
            <a:off x="548640" y="4983480"/>
            <a:ext cx="11064240" cy="1005840"/>
          </a:xfrm>
          <a:prstGeom prst="roundRect">
            <a:avLst>
              <a:gd fmla="val 10909" name="adj"/>
            </a:avLst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8"/>
          <p:cNvSpPr/>
          <p:nvPr/>
        </p:nvSpPr>
        <p:spPr>
          <a:xfrm>
            <a:off x="914400" y="4983480"/>
            <a:ext cx="103327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Los tutoriales del 19 y 20 de agosto se arman con lo que escriban en la parte 2 del registro. Sean específicos ahí.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9"/>
          <p:cNvSpPr/>
          <p:nvPr/>
        </p:nvSpPr>
        <p:spPr>
          <a:xfrm>
            <a:off x="-1737360" y="4023360"/>
            <a:ext cx="4206240" cy="4206240"/>
          </a:xfrm>
          <a:prstGeom prst="ellipse">
            <a:avLst/>
          </a:prstGeom>
          <a:solidFill>
            <a:srgbClr val="141C46"/>
          </a:solidFill>
          <a:ln cap="flat" cmpd="sng" w="12700">
            <a:solidFill>
              <a:srgbClr val="141C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9"/>
          <p:cNvSpPr/>
          <p:nvPr/>
        </p:nvSpPr>
        <p:spPr>
          <a:xfrm>
            <a:off x="822960" y="118872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Antes de salir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9"/>
          <p:cNvSpPr/>
          <p:nvPr/>
        </p:nvSpPr>
        <p:spPr>
          <a:xfrm>
            <a:off x="822960" y="2194560"/>
            <a:ext cx="310896" cy="310896"/>
          </a:xfrm>
          <a:prstGeom prst="roundRect">
            <a:avLst>
              <a:gd fmla="val 14706" name="adj"/>
            </a:avLst>
          </a:prstGeom>
          <a:solidFill>
            <a:srgbClr val="141C46"/>
          </a:solidFill>
          <a:ln cap="flat" cmpd="sng" w="19050">
            <a:solidFill>
              <a:srgbClr val="F2A7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9"/>
          <p:cNvSpPr/>
          <p:nvPr/>
        </p:nvSpPr>
        <p:spPr>
          <a:xfrm>
            <a:off x="1371600" y="2130552"/>
            <a:ext cx="10058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 carpeta quedó al día en los siete puntos.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9"/>
          <p:cNvSpPr/>
          <p:nvPr/>
        </p:nvSpPr>
        <p:spPr>
          <a:xfrm>
            <a:off x="822960" y="2816352"/>
            <a:ext cx="310896" cy="310896"/>
          </a:xfrm>
          <a:prstGeom prst="roundRect">
            <a:avLst>
              <a:gd fmla="val 14706" name="adj"/>
            </a:avLst>
          </a:prstGeom>
          <a:solidFill>
            <a:srgbClr val="141C46"/>
          </a:solidFill>
          <a:ln cap="flat" cmpd="sng" w="19050">
            <a:solidFill>
              <a:srgbClr val="F2A7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9"/>
          <p:cNvSpPr/>
          <p:nvPr/>
        </p:nvSpPr>
        <p:spPr>
          <a:xfrm>
            <a:off x="1371600" y="2752344"/>
            <a:ext cx="10058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Las hojas dibujadas están sobre la mesa y fotografiadas.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9"/>
          <p:cNvSpPr/>
          <p:nvPr/>
        </p:nvSpPr>
        <p:spPr>
          <a:xfrm>
            <a:off x="822960" y="3438144"/>
            <a:ext cx="310896" cy="310896"/>
          </a:xfrm>
          <a:prstGeom prst="roundRect">
            <a:avLst>
              <a:gd fmla="val 14706" name="adj"/>
            </a:avLst>
          </a:prstGeom>
          <a:solidFill>
            <a:srgbClr val="141C46"/>
          </a:solidFill>
          <a:ln cap="flat" cmpd="sng" w="19050">
            <a:solidFill>
              <a:srgbClr val="F2A7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9"/>
          <p:cNvSpPr/>
          <p:nvPr/>
        </p:nvSpPr>
        <p:spPr>
          <a:xfrm>
            <a:off x="1371600" y="3374136"/>
            <a:ext cx="10058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 foto está en 04_Desarrollo con el nombre correcto.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9"/>
          <p:cNvSpPr/>
          <p:nvPr/>
        </p:nvSpPr>
        <p:spPr>
          <a:xfrm>
            <a:off x="822960" y="4059936"/>
            <a:ext cx="310896" cy="310896"/>
          </a:xfrm>
          <a:prstGeom prst="roundRect">
            <a:avLst>
              <a:gd fmla="val 14706" name="adj"/>
            </a:avLst>
          </a:prstGeom>
          <a:solidFill>
            <a:srgbClr val="141C46"/>
          </a:solidFill>
          <a:ln cap="flat" cmpd="sng" w="19050">
            <a:solidFill>
              <a:srgbClr val="F2A7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9"/>
          <p:cNvSpPr/>
          <p:nvPr/>
        </p:nvSpPr>
        <p:spPr>
          <a:xfrm>
            <a:off x="1371600" y="3995928"/>
            <a:ext cx="10058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Bocetos_EquipoXX.docx está lleno, con los bloqueos.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9"/>
          <p:cNvSpPr/>
          <p:nvPr/>
        </p:nvSpPr>
        <p:spPr>
          <a:xfrm>
            <a:off x="822960" y="4681728"/>
            <a:ext cx="310896" cy="310896"/>
          </a:xfrm>
          <a:prstGeom prst="roundRect">
            <a:avLst>
              <a:gd fmla="val 14706" name="adj"/>
            </a:avLst>
          </a:prstGeom>
          <a:solidFill>
            <a:srgbClr val="141C46"/>
          </a:solidFill>
          <a:ln cap="flat" cmpd="sng" w="19050">
            <a:solidFill>
              <a:srgbClr val="F2A7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9"/>
          <p:cNvSpPr/>
          <p:nvPr/>
        </p:nvSpPr>
        <p:spPr>
          <a:xfrm>
            <a:off x="1371600" y="4617720"/>
            <a:ext cx="10058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 integrante firmó el checklist de revisión.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9"/>
          <p:cNvSpPr/>
          <p:nvPr/>
        </p:nvSpPr>
        <p:spPr>
          <a:xfrm>
            <a:off x="822960" y="576072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0DE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9FB0DE"/>
                </a:solidFill>
                <a:latin typeface="Calibri"/>
                <a:ea typeface="Calibri"/>
                <a:cs typeface="Calibri"/>
                <a:sym typeface="Calibri"/>
              </a:rPr>
              <a:t>19 y 20 de agosto: diseño técnico y los primeros tutoriales, armados con los bloqueos de hoy.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2026-08-12T19:48:26Z</dcterms:created>
  <dc:creator>PptxGenJS</dc:creator>
</cp:coreProperties>
</file>